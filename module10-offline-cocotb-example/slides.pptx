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Browser sketches taught async tests, triggers, DUT handles, BinaryValue, scoreboards, and wave literacy. This module is Track A only: you open a real cocotb example with a simulator such as Verilator and run it on your machine. You leave with a command line you can repeat—activate the environment, make, run, and read pass or fail. No browser lab required here—just the live toolchain.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Sketches are concept literacy—they do not compile a DUT or exercise cocotb Makefiles. Offline runs force you through Python packages, simulator flags, MODULE and TOPLEVEL wiring, and the glue you will keep at work. The monorepo links the legacy learn-uvm-pyuvm tree for a small and-gate cocotb test you can run today. One clean pass is enough for this module; you can deepen pyuvm tests later on the next course.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rhythm. Open the legacy course next to this curriculum. Activate its virtual environment so cocotb is on your path. Change into the module-one cocotb tests folder. Run make with Verilator as the simulator and the and-gate test selected. Watch compile finish, then the cocotb runner start. Capture the command and the pass or fail line in your notes. Other simulators swap the SIM knob—same idea, different Make recipe.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cocotb track, change into the legacy offline course tree so your shell sits where the examples live. Activate the virtual environment—or prepend its bin folder to your path—so cocotb resolves. List the cocotb tests directory; you should see the Makefile and the and-gate test file. Then change into that folder and run make. SIM selects the simulator—here Verilator—and TEST names which cocotb module to run—here the and-gate test. Say the working directory aloud before make so you know where the build runs from.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the virtual environment, system Python may lack cocotb—activate first, or fix PATH. Make must run from the test folder that owns the Makefile; the wrong directory fails quietly or builds nothing useful. A browser sketch pass is not a simulator pass—offline needs a real binary. The first Verilator plus cocotb compile can take a minute; later rebuilds are faster when objects exist. If Verilator is missing, install it or swap SIM to a simulator your site supports.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offline checklist: locate a runnable example, build it, observe pass or fail, and note your simulator and package versions. Prefer module-one and-gate unless your site policy points elsewhere. When you are ready, take the short quiz, then continue to the wrap module that closes this cocotb path.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Run a cocotb example</a:t>
            </a:r>
          </a:p>
          <a:p>
            <a:pPr algn="ctr">
              <a:lnSpc>
                <a:spcPts val="2200"/>
              </a:lnSpc>
              <a:spcBef>
                <a:spcPts val="1400"/>
              </a:spcBef>
            </a:pPr>
            <a:r>
              <a:rPr sz="2600" b="0">
                <a:solidFill>
                  <a:srgbClr val="333333"/>
                </a:solidFill>
                <a:latin typeface="Calibri"/>
              </a:rPr>
              <a:t>Browser sketches taught async tests, triggers, DUT handles, BinaryValue, scoreboards, and wave literacy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offline cocotb example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leave the browser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Sketches are concept literacy, they do not compile a DUT or exercise cocotb Makefiles</a:t>
            </a:r>
          </a:p>
          <a:p>
            <a:pPr lvl="0" marL="457200" indent="-228600">
              <a:buFont typeface="Calibri"/>
              <a:spcAft>
                <a:spcPts val="1000"/>
              </a:spcAft>
              <a:buSzPct val="100000"/>
              <a:buChar char="•"/>
              <a:lnSpc>
                <a:spcPts val="2200"/>
              </a:lnSpc>
            </a:pPr>
            <a:r>
              <a:rPr sz="2000" b="0">
                <a:solidFill>
                  <a:srgbClr val="333333"/>
                </a:solidFill>
                <a:latin typeface="Calibri"/>
              </a:rPr>
              <a:t>The glue you will keep at work</a:t>
            </a:r>
          </a:p>
          <a:p>
            <a:pPr lvl="0" marL="457200" indent="-228600">
              <a:buFont typeface="Calibri"/>
              <a:spcAft>
                <a:spcPts val="1000"/>
              </a:spcAft>
              <a:buSzPct val="100000"/>
              <a:buChar char="•"/>
              <a:lnSpc>
                <a:spcPts val="2200"/>
              </a:lnSpc>
            </a:pPr>
            <a:r>
              <a:rPr sz="2000" b="0">
                <a:solidFill>
                  <a:srgbClr val="333333"/>
                </a:solidFill>
                <a:latin typeface="Calibri"/>
              </a:rPr>
              <a:t>The monorepo links the legacy learn-uvm-pyuvm tree for a small and-gate cocotb test you</a:t>
            </a:r>
          </a:p>
          <a:p>
            <a:pPr lvl="0" marL="457200" indent="-228600">
              <a:buFont typeface="Calibri"/>
              <a:spcAft>
                <a:spcPts val="1000"/>
              </a:spcAft>
              <a:buSzPct val="100000"/>
              <a:buChar char="•"/>
              <a:lnSpc>
                <a:spcPts val="2200"/>
              </a:lnSpc>
            </a:pPr>
            <a:r>
              <a:rPr sz="2000" b="0">
                <a:solidFill>
                  <a:srgbClr val="333333"/>
                </a:solidFill>
                <a:latin typeface="Calibri"/>
              </a:rPr>
              <a:t>One clean pass is enough for this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offline cocotb example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Offline workflow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 is the rhythm</a:t>
            </a:r>
          </a:p>
          <a:p>
            <a:pPr lvl="0" marL="457200" indent="-228600">
              <a:buFont typeface="Calibri"/>
              <a:spcAft>
                <a:spcPts val="1000"/>
              </a:spcAft>
              <a:buSzPct val="100000"/>
              <a:buChar char="•"/>
              <a:lnSpc>
                <a:spcPts val="2200"/>
              </a:lnSpc>
            </a:pPr>
            <a:r>
              <a:rPr sz="2000" b="0">
                <a:solidFill>
                  <a:srgbClr val="333333"/>
                </a:solidFill>
                <a:latin typeface="Calibri"/>
              </a:rPr>
              <a:t>Open the legacy course next to this curriculum</a:t>
            </a:r>
          </a:p>
          <a:p>
            <a:pPr lvl="0" marL="457200" indent="-228600">
              <a:buFont typeface="Calibri"/>
              <a:spcAft>
                <a:spcPts val="1000"/>
              </a:spcAft>
              <a:buSzPct val="100000"/>
              <a:buChar char="•"/>
              <a:lnSpc>
                <a:spcPts val="2200"/>
              </a:lnSpc>
            </a:pPr>
            <a:r>
              <a:rPr sz="2000" b="0">
                <a:solidFill>
                  <a:srgbClr val="333333"/>
                </a:solidFill>
                <a:latin typeface="Calibri"/>
              </a:rPr>
              <a:t>Activate its virtual environment so cocotb is on your path</a:t>
            </a:r>
          </a:p>
          <a:p>
            <a:pPr lvl="0" marL="457200" indent="-228600">
              <a:buFont typeface="Calibri"/>
              <a:spcAft>
                <a:spcPts val="1000"/>
              </a:spcAft>
              <a:buSzPct val="100000"/>
              <a:buChar char="•"/>
              <a:lnSpc>
                <a:spcPts val="2200"/>
              </a:lnSpc>
            </a:pPr>
            <a:r>
              <a:rPr sz="2000" b="0">
                <a:solidFill>
                  <a:srgbClr val="333333"/>
                </a:solidFill>
                <a:latin typeface="Calibri"/>
              </a:rPr>
              <a:t>Change into the module-one cocotb tests folder</a:t>
            </a:r>
          </a:p>
          <a:p>
            <a:pPr lvl="0" marL="457200" indent="-228600">
              <a:buFont typeface="Calibri"/>
              <a:spcAft>
                <a:spcPts val="1000"/>
              </a:spcAft>
              <a:buSzPct val="100000"/>
              <a:buChar char="•"/>
              <a:lnSpc>
                <a:spcPts val="2200"/>
              </a:lnSpc>
            </a:pPr>
            <a:r>
              <a:rPr sz="2000" b="0">
                <a:solidFill>
                  <a:srgbClr val="333333"/>
                </a:solidFill>
                <a:latin typeface="Calibri"/>
              </a:rPr>
              <a:t>Run make with Verilator as the simulator and the and-gate test selected</a:t>
            </a:r>
          </a:p>
          <a:p>
            <a:pPr lvl="0" marL="457200" indent="-228600">
              <a:buFont typeface="Calibri"/>
              <a:spcAft>
                <a:spcPts val="1000"/>
              </a:spcAft>
              <a:buSzPct val="100000"/>
              <a:buChar char="•"/>
              <a:lnSpc>
                <a:spcPts val="2200"/>
              </a:lnSpc>
            </a:pPr>
            <a:r>
              <a:rPr sz="2000" b="0">
                <a:solidFill>
                  <a:srgbClr val="333333"/>
                </a:solidFill>
                <a:latin typeface="Calibri"/>
              </a:rPr>
              <a:t>Watch compile finish, then the cocotb runner start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offline cocotb example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cocotb track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cocotb track</a:t>
            </a:r>
          </a:p>
          <a:p>
            <a:pPr lvl="0" marL="457200" indent="-228600">
              <a:buFont typeface="Calibri"/>
              <a:spcAft>
                <a:spcPts val="1000"/>
              </a:spcAft>
              <a:buSzPct val="100000"/>
              <a:buChar char="•"/>
              <a:lnSpc>
                <a:spcPts val="2200"/>
              </a:lnSpc>
            </a:pPr>
            <a:r>
              <a:rPr sz="2000" b="0">
                <a:solidFill>
                  <a:srgbClr val="333333"/>
                </a:solidFill>
                <a:latin typeface="Calibri"/>
              </a:rPr>
              <a:t>Activate the virtual environment</a:t>
            </a:r>
          </a:p>
          <a:p>
            <a:pPr lvl="0" marL="457200" indent="-228600">
              <a:buFont typeface="Calibri"/>
              <a:spcAft>
                <a:spcPts val="1000"/>
              </a:spcAft>
              <a:buSzPct val="100000"/>
              <a:buChar char="•"/>
              <a:lnSpc>
                <a:spcPts val="2200"/>
              </a:lnSpc>
            </a:pPr>
            <a:r>
              <a:rPr sz="2000" b="0">
                <a:solidFill>
                  <a:srgbClr val="333333"/>
                </a:solidFill>
                <a:latin typeface="Calibri"/>
              </a:rPr>
              <a:t>List the cocotb tests directory; you should see the Makefile and the and-gate test file</a:t>
            </a:r>
          </a:p>
          <a:p>
            <a:pPr lvl="0" marL="457200" indent="-228600">
              <a:buFont typeface="Calibri"/>
              <a:spcAft>
                <a:spcPts val="1000"/>
              </a:spcAft>
              <a:buSzPct val="100000"/>
              <a:buChar char="•"/>
              <a:lnSpc>
                <a:spcPts val="2200"/>
              </a:lnSpc>
            </a:pPr>
            <a:r>
              <a:rPr sz="2000" b="0">
                <a:solidFill>
                  <a:srgbClr val="333333"/>
                </a:solidFill>
                <a:latin typeface="Calibri"/>
              </a:rPr>
              <a:t>Then change into that folder and run make</a:t>
            </a:r>
          </a:p>
          <a:p>
            <a:pPr lvl="0" marL="457200" indent="-228600">
              <a:buFont typeface="Calibri"/>
              <a:spcAft>
                <a:spcPts val="1000"/>
              </a:spcAft>
              <a:buSzPct val="100000"/>
              <a:buChar char="•"/>
              <a:lnSpc>
                <a:spcPts val="2200"/>
              </a:lnSpc>
            </a:pPr>
            <a:r>
              <a:rPr sz="2000" b="0">
                <a:solidFill>
                  <a:srgbClr val="333333"/>
                </a:solidFill>
                <a:latin typeface="Calibri"/>
              </a:rPr>
              <a:t>SIM selects the simulator, here Verilator</a:t>
            </a:r>
          </a:p>
          <a:p>
            <a:pPr lvl="0" marL="457200" indent="-228600">
              <a:buFont typeface="Calibri"/>
              <a:spcAft>
                <a:spcPts val="1000"/>
              </a:spcAft>
              <a:buSzPct val="100000"/>
              <a:buChar char="•"/>
              <a:lnSpc>
                <a:spcPts val="2200"/>
              </a:lnSpc>
            </a:pPr>
            <a:r>
              <a:rPr sz="2000" b="0">
                <a:solidFill>
                  <a:srgbClr val="333333"/>
                </a:solidFill>
                <a:latin typeface="Calibri"/>
              </a:rPr>
              <a:t>Say the working directory aloud before make so you know where the build runs from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offline cocotb example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cocotb track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cd learn_uvm_pyuvm — enter the legacy offline course</a:t>
            </a:r>
          </a:p>
          <a:p>
            <a:pPr>
              <a:lnSpc>
                <a:spcPts val="2200"/>
              </a:lnSpc>
              <a:spcAft>
                <a:spcPts val="600"/>
              </a:spcAft>
            </a:pPr>
            <a:r>
              <a:rPr sz="2000" b="0">
                <a:solidFill>
                  <a:srgbClr val="333333"/>
                </a:solidFill>
                <a:latin typeface="Consolas"/>
              </a:rPr>
              <a:t>cd courses/learn_uvm_pyuvm</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source .venv/bin/activate — put cocotb on PATH</a:t>
            </a:r>
          </a:p>
          <a:p>
            <a:pPr>
              <a:lnSpc>
                <a:spcPts val="2200"/>
              </a:lnSpc>
              <a:spcAft>
                <a:spcPts val="600"/>
              </a:spcAft>
            </a:pPr>
            <a:r>
              <a:rPr sz="2000" b="0">
                <a:solidFill>
                  <a:srgbClr val="333333"/>
                </a:solidFill>
                <a:latin typeface="Consolas"/>
              </a:rPr>
              <a:t>source .venv/bin/activate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module1/tests/cocotb_tests — find Makefile and test_and_gate.py</a:t>
            </a:r>
          </a:p>
          <a:p>
            <a:pPr>
              <a:lnSpc>
                <a:spcPts val="2200"/>
              </a:lnSpc>
              <a:spcAft>
                <a:spcPts val="600"/>
              </a:spcAft>
            </a:pPr>
            <a:r>
              <a:rPr sz="2000" b="0">
                <a:solidFill>
                  <a:srgbClr val="333333"/>
                </a:solidFill>
                <a:latin typeface="Consolas"/>
              </a:rPr>
              <a:t>ls module1/tests/cocotb_tests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make SIM=verilator TEST=test_and_gate — compile and run</a:t>
            </a:r>
          </a:p>
          <a:p>
            <a:pPr>
              <a:lnSpc>
                <a:spcPts val="2200"/>
              </a:lnSpc>
              <a:spcAft>
                <a:spcPts val="600"/>
              </a:spcAft>
            </a:pPr>
            <a:r>
              <a:rPr sz="2000" b="0">
                <a:solidFill>
                  <a:srgbClr val="333333"/>
                </a:solidFill>
                <a:latin typeface="Consolas"/>
              </a:rPr>
              <a:t>cd module1/tests/cocotb_tests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make SIM=verilator TEST=test_and_gate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offline cocotb example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Without the virtual environment</a:t>
            </a:r>
          </a:p>
          <a:p>
            <a:pPr lvl="0" marL="457200" indent="-228600">
              <a:buFont typeface="Calibri"/>
              <a:spcAft>
                <a:spcPts val="1000"/>
              </a:spcAft>
              <a:buSzPct val="100000"/>
              <a:buChar char="•"/>
              <a:lnSpc>
                <a:spcPts val="2200"/>
              </a:lnSpc>
            </a:pPr>
            <a:r>
              <a:rPr sz="2000" b="0">
                <a:solidFill>
                  <a:srgbClr val="333333"/>
                </a:solidFill>
                <a:latin typeface="Calibri"/>
              </a:rPr>
              <a:t>Make must run from the test folder that owns the Makefile</a:t>
            </a:r>
          </a:p>
          <a:p>
            <a:pPr lvl="0" marL="457200" indent="-228600">
              <a:buFont typeface="Calibri"/>
              <a:spcAft>
                <a:spcPts val="1000"/>
              </a:spcAft>
              <a:buSzPct val="100000"/>
              <a:buChar char="•"/>
              <a:lnSpc>
                <a:spcPts val="2200"/>
              </a:lnSpc>
            </a:pPr>
            <a:r>
              <a:rPr sz="2000" b="0">
                <a:solidFill>
                  <a:srgbClr val="333333"/>
                </a:solidFill>
                <a:latin typeface="Calibri"/>
              </a:rPr>
              <a:t>A browser sketch pass is not a simulator pass, offline needs a real binary</a:t>
            </a:r>
          </a:p>
          <a:p>
            <a:pPr lvl="0" marL="457200" indent="-228600">
              <a:buFont typeface="Calibri"/>
              <a:spcAft>
                <a:spcPts val="1000"/>
              </a:spcAft>
              <a:buSzPct val="100000"/>
              <a:buChar char="•"/>
              <a:lnSpc>
                <a:spcPts val="2200"/>
              </a:lnSpc>
            </a:pPr>
            <a:r>
              <a:rPr sz="2000" b="0">
                <a:solidFill>
                  <a:srgbClr val="333333"/>
                </a:solidFill>
                <a:latin typeface="Calibri"/>
              </a:rPr>
              <a:t>The first Verilator plus cocotb compile can take a minute</a:t>
            </a:r>
          </a:p>
          <a:p>
            <a:pPr lvl="0" marL="457200" indent="-228600">
              <a:buFont typeface="Calibri"/>
              <a:spcAft>
                <a:spcPts val="1000"/>
              </a:spcAft>
              <a:buSzPct val="100000"/>
              <a:buChar char="•"/>
              <a:lnSpc>
                <a:spcPts val="2200"/>
              </a:lnSpc>
            </a:pPr>
            <a:r>
              <a:rPr sz="2000" b="0">
                <a:solidFill>
                  <a:srgbClr val="333333"/>
                </a:solidFill>
                <a:latin typeface="Calibri"/>
              </a:rPr>
              <a:t>If Verilator is missing, install it or swap SIM to a simulator your site supports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offline cocotb example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offline checklist</a:t>
            </a:r>
          </a:p>
          <a:p>
            <a:pPr lvl="0" marL="457200" indent="-228600">
              <a:buFont typeface="Calibri"/>
              <a:spcAft>
                <a:spcPts val="1000"/>
              </a:spcAft>
              <a:buSzPct val="100000"/>
              <a:buChar char="•"/>
              <a:lnSpc>
                <a:spcPts val="2200"/>
              </a:lnSpc>
            </a:pPr>
            <a:r>
              <a:rPr sz="2000" b="0">
                <a:solidFill>
                  <a:srgbClr val="333333"/>
                </a:solidFill>
                <a:latin typeface="Calibri"/>
              </a:rPr>
              <a:t>Prefer module-one and-gate unless your site policy points elsewhere</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offline cocotb example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
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can drive your testbench while the simulator owns time and the DUT. This short clip welcomes you to learn cocotb—cocotb triggers, DUT handles, and self-check patterns before you grow into pyuvm methodology. You will see how the course is meant to be used, not every API on day one. Two practice tracks share the same ideas: a real cocotb shell and browser sketches.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SystemVerilog testbenches are powerful, but many teams already live in Python for scripts, CI, and data. cocotb lets you write async Python coroutines that await simulator events—clock edges, timers, and more—while still talking to real RTL. This course builds literacy you can reuse with Verilator or Icarus, not a full commercial VIP flow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ways to practice. The real cocotb track uses local Python with cocotb and a simulator such as Verilator, so installs, awaits, and Makefile runs feel like work you will keep. The browser lab track uses interactive sketches on the learning platform—async test shape, triggers, DUT handle, scoreboard, and waveform literacy—so you can build intuition without finishing every install first. You may do either track, or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Python three, cocotb, and a free simulator—Verilator is a common choice. Open this course in the monorepo and skim the two-track doc for exact tool names. You do not need a perfect farm on day one; module ten is the dedicated offline run. For now, confirm you know where the examples prompts live in each module folder.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serve the platform folder with a simple local web server, then open the tools index in your browser. Look for the cocotb sketches—async testbench, triggers, DUT handle, scoreboard, and waveform lab—plus shared verification sketches you will reuse later. If you prefer, use the published tools site instead. Either way, open one sketch once so you know the layout: challenge panel, workspace, and 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and the short quiz when you are ready. Browser labs teach concepts; the real track keeps fidelity. When you finish this intro checklist, continue to the first lab: Python async testbench.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cocotb</a:t>
            </a:r>
          </a:p>
          <a:p>
            <a:pPr algn="ctr">
              <a:lnSpc>
                <a:spcPts val="2200"/>
              </a:lnSpc>
              <a:spcBef>
                <a:spcPts val="1400"/>
              </a:spcBef>
            </a:pPr>
            <a:r>
              <a:rPr sz="2600" b="0">
                <a:solidFill>
                  <a:srgbClr val="333333"/>
                </a:solidFill>
                <a:latin typeface="Calibri"/>
              </a:rPr>
              <a:t>Python can drive your testbench while the simulator owns time and the DUT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cocotb</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SystemVerilog testbenches are powerful</a:t>
            </a:r>
          </a:p>
          <a:p>
            <a:pPr lvl="0" marL="457200" indent="-228600">
              <a:buFont typeface="Calibri"/>
              <a:spcAft>
                <a:spcPts val="1000"/>
              </a:spcAft>
              <a:buSzPct val="100000"/>
              <a:buChar char="•"/>
              <a:lnSpc>
                <a:spcPts val="2200"/>
              </a:lnSpc>
            </a:pPr>
            <a:r>
              <a:rPr sz="2000" b="0">
                <a:solidFill>
                  <a:srgbClr val="333333"/>
                </a:solidFill>
                <a:latin typeface="Calibri"/>
              </a:rPr>
              <a:t>More, while still talking to real RTL</a:t>
            </a:r>
          </a:p>
          <a:p>
            <a:pPr lvl="0" marL="457200" indent="-228600">
              <a:buFont typeface="Calibri"/>
              <a:spcAft>
                <a:spcPts val="1000"/>
              </a:spcAft>
              <a:buSzPct val="100000"/>
              <a:buChar char="•"/>
              <a:lnSpc>
                <a:spcPts val="2200"/>
              </a:lnSpc>
            </a:pPr>
            <a:r>
              <a:rPr sz="2000" b="0">
                <a:solidFill>
                  <a:srgbClr val="333333"/>
                </a:solidFill>
                <a:latin typeface="Calibri"/>
              </a:rPr>
              <a:t>This course builds literacy you can reuse with Verilator or Icarus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ways to practice</a:t>
            </a:r>
          </a:p>
          <a:p>
            <a:pPr lvl="0" marL="457200" indent="-228600">
              <a:buFont typeface="Calibri"/>
              <a:spcAft>
                <a:spcPts val="1000"/>
              </a:spcAft>
              <a:buSzPct val="100000"/>
              <a:buChar char="•"/>
              <a:lnSpc>
                <a:spcPts val="2200"/>
              </a:lnSpc>
            </a:pPr>
            <a:r>
              <a:rPr sz="2000" b="0">
                <a:solidFill>
                  <a:srgbClr val="333333"/>
                </a:solidFill>
                <a:latin typeface="Calibri"/>
              </a:rPr>
              <a:t>Makefile runs feel like work you will keep</a:t>
            </a:r>
          </a:p>
          <a:p>
            <a:pPr lvl="0" marL="457200" indent="-228600">
              <a:buFont typeface="Calibri"/>
              <a:spcAft>
                <a:spcPts val="1000"/>
              </a:spcAft>
              <a:buSzPct val="100000"/>
              <a:buChar char="•"/>
              <a:lnSpc>
                <a:spcPts val="2200"/>
              </a:lnSpc>
            </a:pPr>
            <a:r>
              <a:rPr sz="2000" b="0">
                <a:solidFill>
                  <a:srgbClr val="333333"/>
                </a:solidFill>
                <a:latin typeface="Calibri"/>
              </a:rPr>
              <a:t>Waveform literacy, so you can build intuition without finishing every install first</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real cocotb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Install Python three, cocotb, and a free simulator, Verilator is a common choice</a:t>
            </a:r>
          </a:p>
          <a:p>
            <a:pPr lvl="0" marL="457200" indent="-228600">
              <a:buFont typeface="Calibri"/>
              <a:spcAft>
                <a:spcPts val="1000"/>
              </a:spcAft>
              <a:buSzPct val="100000"/>
              <a:buChar char="•"/>
              <a:lnSpc>
                <a:spcPts val="2200"/>
              </a:lnSpc>
            </a:pPr>
            <a:r>
              <a:rPr sz="2000" b="0">
                <a:solidFill>
                  <a:srgbClr val="333333"/>
                </a:solidFill>
                <a:latin typeface="Calibri"/>
              </a:rPr>
              <a:t>Open this course in the monorepo and skim the two-track doc for exact tool names</a:t>
            </a:r>
          </a:p>
          <a:p>
            <a:pPr lvl="0" marL="457200" indent="-228600">
              <a:buFont typeface="Calibri"/>
              <a:spcAft>
                <a:spcPts val="1000"/>
              </a:spcAft>
              <a:buSzPct val="100000"/>
              <a:buChar char="•"/>
              <a:lnSpc>
                <a:spcPts val="2200"/>
              </a:lnSpc>
            </a:pPr>
            <a:r>
              <a:rPr sz="2000" b="0">
                <a:solidFill>
                  <a:srgbClr val="333333"/>
                </a:solidFill>
                <a:latin typeface="Calibri"/>
              </a:rPr>
              <a:t>You do not need a perfect farm on day one; module ten is the dedicated offline run</a:t>
            </a:r>
          </a:p>
          <a:p>
            <a:pPr lvl="0" marL="457200" indent="-228600">
              <a:buFont typeface="Calibri"/>
              <a:spcAft>
                <a:spcPts val="1000"/>
              </a:spcAft>
              <a:buSzPct val="100000"/>
              <a:buChar char="•"/>
              <a:lnSpc>
                <a:spcPts val="2200"/>
              </a:lnSpc>
            </a:pPr>
            <a:r>
              <a:rPr sz="2000" b="0">
                <a:solidFill>
                  <a:srgbClr val="333333"/>
                </a:solidFill>
                <a:latin typeface="Calibri"/>
              </a:rPr>
              <a:t>For now, confirm you know where the examples prompts live in each module folder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browser lab track</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From the monorepo</a:t>
            </a:r>
          </a:p>
          <a:p>
            <a:pPr lvl="0" marL="457200" indent="-228600">
              <a:buFont typeface="Calibri"/>
              <a:spcAft>
                <a:spcPts val="1000"/>
              </a:spcAft>
              <a:buSzPct val="100000"/>
              <a:buChar char="•"/>
              <a:lnSpc>
                <a:spcPts val="2200"/>
              </a:lnSpc>
            </a:pPr>
            <a:r>
              <a:rPr sz="2000" b="0">
                <a:solidFill>
                  <a:srgbClr val="333333"/>
                </a:solidFill>
                <a:latin typeface="Calibri"/>
              </a:rPr>
              <a:t>Look for the cocotb sketches, async testbench, triggers, DUT handle, scoreboard</a:t>
            </a:r>
          </a:p>
          <a:p>
            <a:pPr lvl="0" marL="457200" indent="-228600">
              <a:buFont typeface="Calibri"/>
              <a:spcAft>
                <a:spcPts val="1000"/>
              </a:spcAft>
              <a:buSzPct val="100000"/>
              <a:buChar char="•"/>
              <a:lnSpc>
                <a:spcPts val="2200"/>
              </a:lnSpc>
            </a:pPr>
            <a:r>
              <a:rPr sz="2000" b="0">
                <a:solidFill>
                  <a:srgbClr val="333333"/>
                </a:solidFill>
                <a:latin typeface="Calibri"/>
              </a:rPr>
              <a:t>If you prefer, use the published tools site instead</a:t>
            </a:r>
          </a:p>
          <a:p>
            <a:pPr lvl="0" marL="457200" indent="-228600">
              <a:buFont typeface="Calibri"/>
              <a:spcAft>
                <a:spcPts val="1000"/>
              </a:spcAft>
              <a:buSzPct val="100000"/>
              <a:buChar char="•"/>
              <a:lnSpc>
                <a:spcPts val="2200"/>
              </a:lnSpc>
            </a:pPr>
            <a:r>
              <a:rPr sz="2000" b="0">
                <a:solidFill>
                  <a:srgbClr val="333333"/>
                </a:solidFill>
                <a:latin typeface="Calibri"/>
              </a:rPr>
              <a:t>Either way, open one sketch once so you know the layout</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Browser labs teach concepts; the real track keeps fidelity</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the first lab: Python async testbench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